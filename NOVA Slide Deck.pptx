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8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8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50976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50976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50976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0976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50976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50976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426464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426464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426464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426464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26464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426464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426464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426464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426464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426464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901952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901952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901952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901952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901952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901952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901952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901952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901952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901952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377440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377440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377440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377440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377440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377440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377440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377440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377440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377440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852928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852928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852928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852928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852928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852928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852928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852928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852928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852928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328416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3328416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3328416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3328416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3328416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328416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3328416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328416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328416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328416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3803904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3803904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803904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3803904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3803904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803904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803904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803904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3803904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3803904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4279392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279392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4279392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4279392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4279392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279392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4279392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4279392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4279392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279392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4754880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4754880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4754880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4754880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4754880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4754880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4754880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754880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754880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4754880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5230368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5230368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5230368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5230368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5230368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5230368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5230368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5230368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5230368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5230368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5705856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705856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5705856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5705856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5705856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5705856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5705856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5705856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5705856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5705856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6181344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6181344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6181344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6181344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6181344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6181344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6181344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6181344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6181344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6181344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6656832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6656832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6656832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6656832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6656832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6656832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6656832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6656832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6656832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6656832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7132320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7132320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7132320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7132320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7132320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132320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7132320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7132320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7132320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7132320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7607808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7607808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7607808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7607808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7607808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7607808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7607808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7607808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7607808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7607808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8083296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8083296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8083296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8083296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8083296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8083296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8083296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8083296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8083296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8083296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8558784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8558784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8558784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8558784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8558784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8558784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8558784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8558784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8558784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8558784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9034272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9034272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9034272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9034272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9034272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9034272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9034272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9034272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9034272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9034272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640080"/>
            <a:ext cx="1097280" cy="1097280"/>
          </a:xfrm>
          <a:prstGeom prst="rect">
            <a:avLst/>
          </a:prstGeom>
        </p:spPr>
      </p:pic>
      <p:sp>
        <p:nvSpPr>
          <p:cNvPr id="205" name="Text 202"/>
          <p:cNvSpPr/>
          <p:nvPr/>
        </p:nvSpPr>
        <p:spPr>
          <a:xfrm>
            <a:off x="493776" y="92125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BOOTCAMP</a:t>
            </a:r>
            <a:endParaRPr lang="en-US" sz="900" dirty="0"/>
          </a:p>
        </p:txBody>
      </p:sp>
      <p:sp>
        <p:nvSpPr>
          <p:cNvPr id="206" name="Text 203"/>
          <p:cNvSpPr/>
          <p:nvPr/>
        </p:nvSpPr>
        <p:spPr>
          <a:xfrm>
            <a:off x="475488" y="1401318"/>
            <a:ext cx="7690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NOVA: Network Operations Virtual Assistance</a:t>
            </a:r>
            <a:endParaRPr lang="en-US" sz="5200" dirty="0"/>
          </a:p>
        </p:txBody>
      </p:sp>
      <p:sp>
        <p:nvSpPr>
          <p:cNvPr id="207" name="Text 204"/>
          <p:cNvSpPr/>
          <p:nvPr/>
        </p:nvSpPr>
        <p:spPr>
          <a:xfrm>
            <a:off x="502920" y="2971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fault investigation for NOC engineers</a:t>
            </a:r>
            <a:endParaRPr lang="en-US" sz="1500" dirty="0"/>
          </a:p>
        </p:txBody>
      </p:sp>
      <p:sp>
        <p:nvSpPr>
          <p:cNvPr id="208" name="Shape 205"/>
          <p:cNvSpPr/>
          <p:nvPr/>
        </p:nvSpPr>
        <p:spPr>
          <a:xfrm>
            <a:off x="502920" y="3840480"/>
            <a:ext cx="2377440" cy="475488"/>
          </a:xfrm>
          <a:prstGeom prst="rect">
            <a:avLst/>
          </a:prstGeom>
          <a:solidFill>
            <a:srgbClr val="162B4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Text 206"/>
          <p:cNvSpPr/>
          <p:nvPr/>
        </p:nvSpPr>
        <p:spPr>
          <a:xfrm>
            <a:off x="548640" y="38770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Ayushi Kandoi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Investigation Bottleneck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2834640" cy="251460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490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Systems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011680"/>
            <a:ext cx="2514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manually cross-reference ticketing, network inventory, and change management — all under strict SLA time pressure.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27832" y="1298448"/>
            <a:ext cx="2834640" cy="251460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4630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05072" y="1490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Breaches &amp; Penalties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10712" y="2011680"/>
            <a:ext cx="2514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4 hr · Medium: 8 hr · Low: 24 hr. Manual data gathering inflates MTTR and triggers real financial penalties.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81344" y="1298448"/>
            <a:ext cx="2834640" cy="251460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4630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58584" y="1490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Dependency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64224" y="2011680"/>
            <a:ext cx="2514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engineers miss upstream correlations between different network domains, leading to wrong root causes and wasted escalations.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4005072"/>
            <a:ext cx="8595360" cy="804672"/>
          </a:xfrm>
          <a:prstGeom prst="rect">
            <a:avLst/>
          </a:prstGeom>
          <a:solidFill>
            <a:srgbClr val="12295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457200" y="40416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"Experienced engineers spend significant time on data gathering rather than decision-making."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AUDIENCE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This Built For?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4114800" cy="352044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64008" cy="3520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44752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463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88720" y="168249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Engineers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02920" y="2267712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faults under tight SLA windows (4 / 8 / 24 hr)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engineers who may miss upstream correlations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engineers spending time on data gathering, not decisions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managing cross-domain network topologies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17720" y="1261872"/>
            <a:ext cx="4251960" cy="1572768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4475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463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5394960" y="16824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Ops Managers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800600" y="21396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MTTR improvements and SLA compliance across the team.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17720" y="3108960"/>
            <a:ext cx="4251960" cy="1572768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2918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94960" y="33101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5394960" y="35295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Operators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800600" y="39867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ISP / carrier with incident-based ticketing + NIMS-based NOC workflows.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74320" y="4681728"/>
            <a:ext cx="8595360" cy="301752"/>
          </a:xfrm>
          <a:prstGeom prst="rect">
            <a:avLst/>
          </a:prstGeom>
          <a:solidFill>
            <a:srgbClr val="122952"/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955280" y="128016"/>
            <a:ext cx="1005840" cy="292608"/>
          </a:xfrm>
          <a:prstGeom prst="rect">
            <a:avLst/>
          </a:prstGeom>
          <a:solidFill>
            <a:srgbClr val="12295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55280" y="1463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sec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Investigation Pipeline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1874520" cy="2176272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4173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1993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" y="25237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fetch_ticket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2029968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23160" y="1234440"/>
            <a:ext cx="1874520" cy="2176272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392" y="14173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23160" y="1993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423160" y="25237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changes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029968"/>
            <a:ext cx="182880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572000" y="1234440"/>
            <a:ext cx="1874520" cy="2176272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232" y="141732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72000" y="1993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572000" y="25237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guide</a:t>
            </a:r>
            <a:endParaRPr lang="en-US" sz="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029968"/>
            <a:ext cx="182880" cy="1828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720840" y="1234440"/>
            <a:ext cx="1874520" cy="2176272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4072" y="141732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720840" y="1993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720840" y="25237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output</a:t>
            </a:r>
            <a:endParaRPr lang="en-US" sz="950" dirty="0"/>
          </a:p>
        </p:txBody>
      </p:sp>
      <p:sp>
        <p:nvSpPr>
          <p:cNvPr id="27" name="Shape 18"/>
          <p:cNvSpPr/>
          <p:nvPr/>
        </p:nvSpPr>
        <p:spPr>
          <a:xfrm>
            <a:off x="274320" y="3566160"/>
            <a:ext cx="8595360" cy="1298448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274320" y="3566160"/>
            <a:ext cx="64008" cy="12984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0"/>
          <p:cNvSpPr/>
          <p:nvPr/>
        </p:nvSpPr>
        <p:spPr>
          <a:xfrm>
            <a:off x="5029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1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3950208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68680" y="39502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CHANGE_RELATED  →  Planned maintenance identified as root cause. Summary generated immediately. RCA agent skipped.</a:t>
            </a:r>
            <a:endParaRPr lang="en-US" sz="11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4315968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68680" y="43159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NO_CHANGE_RELATED  →  Escalated to RCA Agent. RAG over EDIN guide. Technical root cause + resolution steps returned.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04a  ·  DEMO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91279" y="223593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57200" y="4690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04b  ·  INFRA DIAGRAM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8686800" cy="749808"/>
          </a:xfrm>
          <a:prstGeom prst="rect">
            <a:avLst/>
          </a:prstGeom>
          <a:solidFill>
            <a:srgbClr val="12295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—  React + Vite  (localhost:5173)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53896"/>
            <a:ext cx="2011680" cy="32004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49047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Input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9293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/ticket/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0" y="1453896"/>
            <a:ext cx="2011680" cy="32004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0" y="149047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Tabs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0" y="19293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/feedback/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1453896"/>
            <a:ext cx="2011680" cy="32004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49047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19293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/chat/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2194560"/>
            <a:ext cx="8686800" cy="1572768"/>
          </a:xfrm>
          <a:prstGeom prst="rect">
            <a:avLst/>
          </a:prstGeom>
          <a:solidFill>
            <a:srgbClr val="111D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221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—  FastAPI (localhost:8000)  →  LangGraph Supervisor Graph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578608"/>
            <a:ext cx="1938528" cy="10972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" y="2651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fetch_ticket_node</a:t>
            </a:r>
            <a:endParaRPr lang="en-US" sz="8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584" y="3035808"/>
            <a:ext cx="128016" cy="128016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532888" y="2578608"/>
            <a:ext cx="1938528" cy="10972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587752" y="2651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correlation_node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[search_inventory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search_planned_changes]</a:t>
            </a:r>
            <a:endParaRPr lang="en-US" sz="8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3035808"/>
            <a:ext cx="128016" cy="128016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654296" y="2578608"/>
            <a:ext cx="1938528" cy="1097280"/>
          </a:xfrm>
          <a:prstGeom prst="rect">
            <a:avLst/>
          </a:prstGeom>
          <a:solidFill>
            <a:srgbClr val="162B4D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709160" y="2651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rca_node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[search_network_guide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Cohere rerank]</a:t>
            </a:r>
            <a:endParaRPr lang="en-US" sz="8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035808"/>
            <a:ext cx="128016" cy="128016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775704" y="2578608"/>
            <a:ext cx="1938528" cy="10972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830568" y="2651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summary_node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228600" y="3840480"/>
            <a:ext cx="8686800" cy="749808"/>
          </a:xfrm>
          <a:prstGeom prst="rect">
            <a:avLst/>
          </a:prstGeom>
          <a:solidFill>
            <a:srgbClr val="122952"/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365760" y="3858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47472" y="4151376"/>
            <a:ext cx="1600200" cy="384048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347472" y="41788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tickets_data.py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(150 tickets)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2039112" y="4151376"/>
            <a:ext cx="1600200" cy="384048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2039112" y="41788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inventory_data.py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lines)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3730752" y="4151376"/>
            <a:ext cx="1600200" cy="384048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3730752" y="41788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planned_changes_data.py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(130 records)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5422392" y="4151376"/>
            <a:ext cx="1600200" cy="384048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5422392" y="41788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Cloud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(137 chunks)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7114032" y="4151376"/>
            <a:ext cx="1600200" cy="384048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7114032" y="41788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  ·  CONCLUSIONS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8368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Hours to Seconds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8595360" cy="1051560"/>
          </a:xfrm>
          <a:prstGeom prst="rect">
            <a:avLst/>
          </a:prstGeom>
          <a:solidFill>
            <a:srgbClr val="12295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FF6B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5361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6B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97480" y="153619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A5A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6616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00C8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66160" y="15361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00C8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46520" y="138988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B0C4D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Fault investigation time per ticket — from manual cross-referencing across multiple systems to a single ticket number.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2834640" cy="2395728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4320" y="25786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C8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MTTR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3163824"/>
            <a:ext cx="237744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3246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Reduced Time to Resolution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" y="3621024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C4D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Engineers no longer spend time querying inventory, change logs, and architecture guides manually. The full investigation pipeline runs in seconds.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27832" y="2487168"/>
            <a:ext cx="2834640" cy="2395728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27832" y="25786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SLA Risk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56432" y="3163824"/>
            <a:ext cx="237744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364992" y="3246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Fewer Escalations &amp; Breaches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364992" y="3621024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C4D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Correlation-first routing catches planned-change faults instantly. Junior engineers get the same output as a senior — every time, with evidence.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81344" y="2487168"/>
            <a:ext cx="2834640" cy="2395728"/>
          </a:xfrm>
          <a:prstGeom prst="rect">
            <a:avLst/>
          </a:prstGeom>
          <a:solidFill>
            <a:srgbClr val="162B4D"/>
          </a:solidFill>
          <a:ln w="12700">
            <a:solidFill>
              <a:srgbClr val="1E3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81344" y="25786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D1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 Halluc.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9944" y="3163824"/>
            <a:ext cx="2377440" cy="27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18504" y="3246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Resolution Steps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18504" y="3621024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C4D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resolution step is grounded in the real EDIN network guide — not fabricated by the model.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42616" y="3220817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42616" y="3751169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50976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50976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50976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0976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18104" y="3220817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118104" y="3751169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426464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426464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426464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426464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26464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426464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593592" y="3220817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593592" y="3751169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426464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426464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901952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901952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901952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901952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901952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901952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069080" y="3220817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069080" y="3751169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901952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901952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377440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377440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377440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377440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377440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377440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544568" y="3220817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544568" y="3751169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377440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377440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852928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852928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852928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852928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852928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852928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020056" y="3220817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020056" y="3751169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852928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852928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328416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3328416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3328416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3328416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3328416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328416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5495544" y="3220817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5495544" y="3751169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328416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328416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3803904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3803904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803904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3803904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3803904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803904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5971032" y="3220817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5971032" y="3751169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3803904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3803904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4279392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279392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4279392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4279392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4279392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279392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6446520" y="3220817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6446520" y="3751169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4279392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279392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4754880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4754880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4754880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4754880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4754880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4754880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6922008" y="3220817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6922008" y="3751169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754880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4754880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5230368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5230368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5230368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5230368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5230368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5230368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7397496" y="3220817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7397496" y="3751169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5230368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5230368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5705856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705856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5705856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5705856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5705856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5705856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7872984" y="3220817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7872984" y="3751169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5705856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5705856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6181344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6181344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6181344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6181344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6181344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6181344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6181344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6181344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6181344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6181344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6656832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6656832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6656832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6656832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6656832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6656832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6656832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6656832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6656832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6656832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7132320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7132320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7132320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7132320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7132320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132320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7132320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7132320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7132320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7132320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7607808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7607808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7607808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7607808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7607808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7607808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7607808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7607808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7607808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7607808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8083296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8083296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8083296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8083296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8083296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8083296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8083296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8083296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8083296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8083296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8558784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8558784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8558784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8558784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8558784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8558784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8558784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8558784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8558784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8558784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9034272" y="9144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9034272" y="62179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9034272" y="115214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9034272" y="168249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9034272" y="221284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9034272" y="2743200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9034272" y="3273552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9034272" y="3803904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9034272" y="4334256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9034272" y="4864608"/>
            <a:ext cx="36576" cy="36576"/>
          </a:xfrm>
          <a:prstGeom prst="line">
            <a:avLst/>
          </a:prstGeom>
          <a:solidFill>
            <a:srgbClr val="1E3E6E">
              <a:alpha val="40000"/>
            </a:srgbClr>
          </a:solidFill>
          <a:ln w="12700">
            <a:solidFill>
              <a:srgbClr val="1E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502920"/>
            <a:ext cx="1280160" cy="1280160"/>
          </a:xfrm>
          <a:prstGeom prst="rect">
            <a:avLst/>
          </a:prstGeom>
        </p:spPr>
      </p:pic>
      <p:sp>
        <p:nvSpPr>
          <p:cNvPr id="205" name="Text 202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Network Assistant</a:t>
            </a:r>
            <a:endParaRPr lang="en-US" sz="3800" dirty="0"/>
          </a:p>
        </p:txBody>
      </p:sp>
      <p:sp>
        <p:nvSpPr>
          <p:cNvPr id="206" name="Text 203"/>
          <p:cNvSpPr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ticket number to structured root cause — in seconds.</a:t>
            </a:r>
            <a:endParaRPr lang="en-US" sz="1500" dirty="0"/>
          </a:p>
        </p:txBody>
      </p:sp>
      <p:sp>
        <p:nvSpPr>
          <p:cNvPr id="207" name="Shape 204"/>
          <p:cNvSpPr/>
          <p:nvPr/>
        </p:nvSpPr>
        <p:spPr>
          <a:xfrm>
            <a:off x="2715768" y="3348833"/>
            <a:ext cx="4023360" cy="457200"/>
          </a:xfrm>
          <a:prstGeom prst="rect">
            <a:avLst/>
          </a:prstGeom>
          <a:solidFill>
            <a:srgbClr val="12295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Text 205"/>
          <p:cNvSpPr/>
          <p:nvPr/>
        </p:nvSpPr>
        <p:spPr>
          <a:xfrm>
            <a:off x="2852928" y="3376265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github.com/Ayushi-Kandoi/Agentic-Network-Assistant</a:t>
            </a:r>
            <a:endParaRPr lang="en-US" sz="950" dirty="0"/>
          </a:p>
        </p:txBody>
      </p:sp>
      <p:sp>
        <p:nvSpPr>
          <p:cNvPr id="211" name="Text 208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Ayushi Kandoi  ·  Professional AI Engineering Bootcamp ·  AI Makerspace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540</Words>
  <Application>Microsoft Macintosh PowerPoint</Application>
  <PresentationFormat>On-screen Show 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Network Assistant</dc:title>
  <dc:subject>PptxGenJS Presentation</dc:subject>
  <dc:creator>Ayushi Kandoi</dc:creator>
  <cp:lastModifiedBy>Ayushi Kandoi</cp:lastModifiedBy>
  <cp:revision>2</cp:revision>
  <dcterms:created xsi:type="dcterms:W3CDTF">2026-03-19T16:35:29Z</dcterms:created>
  <dcterms:modified xsi:type="dcterms:W3CDTF">2026-03-19T20:47:37Z</dcterms:modified>
</cp:coreProperties>
</file>